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8" r:id="rId3"/>
    <p:sldId id="281" r:id="rId4"/>
    <p:sldId id="290" r:id="rId5"/>
    <p:sldId id="293" r:id="rId6"/>
    <p:sldId id="299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/>
            </a:pPr>
            <a:r>
              <a:rPr sz="900" b="0">
                <a:solidFill>
                  <a:srgbClr val="555F6B"/>
                </a:solidFill>
                <a:latin typeface="Calibri"/>
              </a:rPr>
              <a:t>SentinelUEBA · Honeywell Campus Connect 2026 · Problem 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548640" y="2194560"/>
            <a:ext cx="11064240" cy="1645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600" b="1">
                <a:solidFill>
                  <a:srgbClr val="0B2447"/>
                </a:solidFill>
                <a:latin typeface="Calibri"/>
              </a:rPr>
              <a:t>SentinelUEBA — AI-Powered Behavioural Anomaly Detection for Cybersecurity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640080" y="3931920"/>
            <a:ext cx="10607040" cy="2377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1F2A37"/>
                </a:solidFill>
                <a:latin typeface="Calibri"/>
              </a:rPr>
              <a:t>•  Problem Statement ID:  Honeywell Campus Connect 2026 · Problem 4</a:t>
            </a:r>
            <a:endParaRPr lang="en-US" dirty="0"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1F2A37"/>
                </a:solidFill>
                <a:latin typeface="Calibri"/>
              </a:rPr>
              <a:t>•  Problem Statement Title:  AI-Powered Behavioural Anomaly Detection for Cybersecurity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1F2A37"/>
                </a:solidFill>
                <a:latin typeface="Calibri"/>
              </a:rPr>
              <a:t>•  Theme:  Cybersecurity (UEBA / Threat Detection)     PS Category:  Software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1F2A37"/>
                </a:solidFill>
                <a:latin typeface="Calibri"/>
              </a:rPr>
              <a:t>•  Idea / Solution Name:  SentinelUEBA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1F2A37"/>
                </a:solidFill>
                <a:latin typeface="Calibri"/>
              </a:rPr>
              <a:t>•  Student Name (Registered):  Induj Gupta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1F2A37"/>
                </a:solidFill>
                <a:latin typeface="Calibri"/>
              </a:rPr>
              <a:t>•  Institute:  Manipal Institute of Technology, Bengaluru</a:t>
            </a: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/>
          <a:lstStyle/>
          <a:p>
            <a:pPr eaLnBrk="1" hangingPunct="1"/>
            <a:r>
              <a:rPr sz="2200" b="1">
                <a:solidFill>
                  <a:srgbClr val="0B2447"/>
                </a:solidFill>
                <a:latin typeface="Calibri"/>
              </a:rPr>
              <a:t>SentinelUEBA — Behavioural Anomaly Detection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65760" y="1280160"/>
            <a:ext cx="11430000" cy="4892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0B2447"/>
                </a:solidFill>
                <a:latin typeface="Calibri"/>
              </a:rPr>
              <a:t>Proposed solution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200" b="0">
                <a:solidFill>
                  <a:srgbClr val="1F2A37"/>
                </a:solidFill>
                <a:latin typeface="Calibri"/>
              </a:rPr>
              <a:t>•  Learns the normal access behaviour of every user, service account and device, then flags deviations — it does not rely exclusively on signatures.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200" b="0">
                <a:solidFill>
                  <a:srgbClr val="1F2A37"/>
                </a:solidFill>
                <a:latin typeface="Calibri"/>
              </a:rPr>
              <a:t>•  Detects and classifies brute force, impossible travel, credential stuffing, lateral movement, device spoofing and low-and-slow exfiltration; leaves benign insider drift alone.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0B2447"/>
                </a:solidFill>
                <a:latin typeface="Calibri"/>
              </a:rPr>
              <a:t>How it addresses the problem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200" b="0">
                <a:solidFill>
                  <a:srgbClr val="1F2A37"/>
                </a:solidFill>
                <a:latin typeface="Calibri"/>
              </a:rPr>
              <a:t>•  Five detection channels (rules + autoencoder + isolation forest + causal GRU + classifier) are evaluated on a held-out validation window; the classifier won and is the operational champion, exposed as one explainable 0–100 risk score.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200" b="0">
                <a:solidFill>
                  <a:srgbClr val="1F2A37"/>
                </a:solidFill>
                <a:latin typeface="Calibri"/>
              </a:rPr>
              <a:t>•  Every alert carries a plain-English reason, a MITRE ATT&amp;CK technique, contributing channel scores, and a counterfactual (“benign if geo-velocity &lt; 900 km/h”).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0B2447"/>
                </a:solidFill>
                <a:latin typeface="Calibri"/>
              </a:rPr>
              <a:t>Innovation &amp; uniqueness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200" b="0">
                <a:solidFill>
                  <a:srgbClr val="1F2A37"/>
                </a:solidFill>
                <a:latin typeface="Calibri"/>
              </a:rPr>
              <a:t>•  Validation-gated champion: keeps the simplest model that wins on a held-out validation window — and documents it (intellectual honesty).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200" b="0">
                <a:solidFill>
                  <a:srgbClr val="1F2A37"/>
                </a:solidFill>
                <a:latin typeface="Calibri"/>
              </a:rPr>
              <a:t>•  Causal, past-only features: the feature logic is streaming-compatible; evaluated here through batch replay.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200" b="0">
                <a:solidFill>
                  <a:srgbClr val="1F2A37"/>
                </a:solidFill>
                <a:latin typeface="Calibri"/>
              </a:rPr>
              <a:t>•  Stable across five same-generator seeds: 100% precision and 0 false positives on every seed (sampling stability, not domain/campaign shift).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 wrap="square"/>
          <a:lstStyle/>
          <a:p>
            <a:pPr>
              <a:defRPr/>
            </a:pPr>
            <a:r>
              <a:rPr sz="900" b="0">
                <a:solidFill>
                  <a:srgbClr val="555F6B"/>
                </a:solidFill>
                <a:latin typeface="Calibri"/>
              </a:rPr>
              <a:t>SentinelUEBA · Honeywell Campus Connect 2026 · Problem 4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eaLnBrk="1" hangingPunct="1"/>
            <a:r>
              <a:rPr sz="2200" b="1">
                <a:solidFill>
                  <a:srgbClr val="0B2447"/>
                </a:solidFill>
                <a:latin typeface="Calibri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65760" y="1280160"/>
            <a:ext cx="11430000" cy="4892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None/>
            </a:pPr>
            <a:r>
              <a:rPr sz="1500" b="1">
                <a:solidFill>
                  <a:srgbClr val="0B2447"/>
                </a:solidFill>
                <a:latin typeface="Calibri"/>
              </a:rPr>
              <a:t>Technologies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200" b="0">
                <a:solidFill>
                  <a:srgbClr val="1F2A37"/>
                </a:solidFill>
                <a:latin typeface="Calibri"/>
              </a:rPr>
              <a:t>•  Python · PyTorch (autoencoder + causal GRU) · scikit-learn (Isolation Forest) · LightGBM (attack typing) · SHAP (explainability) · Streamlit (analyst console) · NumPy/pandas (synthetic generator).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0B2447"/>
                </a:solidFill>
                <a:latin typeface="Calibri"/>
              </a:rPr>
              <a:t>Methodology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200" b="0">
                <a:solidFill>
                  <a:srgbClr val="1F2A37"/>
                </a:solidFill>
                <a:latin typeface="Calibri"/>
              </a:rPr>
              <a:t>•  1. Generate synthetic access logs to the required schema (~2% injected attacks, labels held separately).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200" b="0">
                <a:solidFill>
                  <a:srgbClr val="1F2A37"/>
                </a:solidFill>
                <a:latin typeface="Calibri"/>
              </a:rPr>
              <a:t>•  2. Causal, past-only feature engineering (rolling windows, geo-velocity, resource novelty, peer priors).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200" b="0">
                <a:solidFill>
                  <a:srgbClr val="1F2A37"/>
                </a:solidFill>
                <a:latin typeface="Calibri"/>
              </a:rPr>
              <a:t>•  3. Train normal-only unsupervised baselines + causal GRU + LightGBM classifier.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200" b="0">
                <a:solidFill>
                  <a:srgbClr val="1F2A37"/>
                </a:solidFill>
                <a:latin typeface="Calibri"/>
              </a:rPr>
              <a:t>•  4. Validation-gated fusion selects the operational champion; alert thresholds fitted on validation.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200" b="0">
                <a:solidFill>
                  <a:srgbClr val="1F2A37"/>
                </a:solidFill>
                <a:latin typeface="Calibri"/>
              </a:rPr>
              <a:t>•  5. Explain every alert; persist an auditable analyst-feedback loop.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0B2447"/>
                </a:solidFill>
                <a:latin typeface="Calibri"/>
              </a:rPr>
              <a:t>Evaluation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200" b="0">
                <a:solidFill>
                  <a:srgbClr val="1F2A37"/>
                </a:solidFill>
                <a:latin typeface="Calibri"/>
              </a:rPr>
              <a:t>•  Chronological train / validation / selection / untouched-test with a 1-hour purge gap; PR-AUC primary; entity-clustered bootstrap CIs; calibration.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 wrap="square"/>
          <a:lstStyle/>
          <a:p>
            <a:pPr>
              <a:defRPr/>
            </a:pPr>
            <a:r>
              <a:rPr sz="900" b="0">
                <a:solidFill>
                  <a:srgbClr val="555F6B"/>
                </a:solidFill>
                <a:latin typeface="Calibri"/>
              </a:rPr>
              <a:t>SentinelUEBA · Honeywell Campus Connect 2026 · Problem 4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eaLnBrk="1" hangingPunct="1"/>
            <a:r>
              <a:rPr sz="2200" b="1">
                <a:solidFill>
                  <a:srgbClr val="0B2447"/>
                </a:solidFill>
                <a:latin typeface="Calibri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65760" y="1280160"/>
            <a:ext cx="11430000" cy="4892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sz="1500" b="1">
                <a:solidFill>
                  <a:srgbClr val="0B2447"/>
                </a:solidFill>
                <a:latin typeface="Calibri"/>
              </a:rPr>
              <a:t>Feasibility — measured on the untouched test window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150" b="0">
                <a:solidFill>
                  <a:srgbClr val="1F2A37"/>
                </a:solidFill>
                <a:latin typeface="Calibri"/>
              </a:rPr>
              <a:t>•  Detection ROC-AUC 0.9994 · PR-AUC 0.9943.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150" b="0">
                <a:solidFill>
                  <a:srgbClr val="1F2A37"/>
                </a:solidFill>
                <a:latin typeface="Calibri"/>
              </a:rPr>
              <a:t>•  Top-1% budget (precision-first): 100% precision, 0 false positives, 46.7% overall recall (0.93% realised alert rate).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150" b="0">
                <a:solidFill>
                  <a:srgbClr val="1F2A37"/>
                </a:solidFill>
                <a:latin typeface="Calibri"/>
              </a:rPr>
              <a:t>•  Top-2% budget (coverage): 99.3% recall at 73.7% precision — the analyst tunes the trade-off (the strict top-1% policy misses impossible-travel / device-spoofing).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150" b="0">
                <a:solidFill>
                  <a:srgbClr val="1F2A37"/>
                </a:solidFill>
                <a:latin typeface="Calibri"/>
              </a:rPr>
              <a:t>•  Attack-type macro-F1 0.947 · cold-start recall 69.0% ± 11.6% across 5 seeds (227 attacks) · benign-drift FP rate 0.0%.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150" b="0">
                <a:solidFill>
                  <a:srgbClr val="1F2A37"/>
                </a:solidFill>
                <a:latin typeface="Calibri"/>
              </a:rPr>
              <a:t>•  ~19,500 events/sec on a single CPU core — streaming-feasible.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0B2447"/>
                </a:solidFill>
                <a:latin typeface="Calibri"/>
              </a:rPr>
              <a:t>Challenges &amp; risks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150" b="0">
                <a:solidFill>
                  <a:srgbClr val="1F2A37"/>
                </a:solidFill>
                <a:latin typeface="Calibri"/>
              </a:rPr>
              <a:t>•  Extreme imbalance · concept drift vs. attacks · cold-start · adaptive-baseline poisoning · synthetic primary benchmark.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0B2447"/>
                </a:solidFill>
                <a:latin typeface="Calibri"/>
              </a:rPr>
              <a:t>Strategies to overcome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150" b="0">
                <a:solidFill>
                  <a:srgbClr val="1F2A37"/>
                </a:solidFill>
                <a:latin typeface="Calibri"/>
              </a:rPr>
              <a:t>•  Unsupervised core + PR-AUC (imbalance); Page-Hinkley + protected baselines (drift); role peer priors (cold-start).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150" b="0">
                <a:solidFill>
                  <a:srgbClr val="1F2A37"/>
                </a:solidFill>
                <a:latin typeface="Calibri"/>
              </a:rPr>
              <a:t>•  High-confidence rule hits are excluded from profile updates (anti-poisoning); held-out SPEDIA probe + red-team-labelled LANL harness (generalisation).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 wrap="squar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900" b="0">
                <a:solidFill>
                  <a:srgbClr val="555F6B"/>
                </a:solidFill>
                <a:latin typeface="Calibri"/>
              </a:rPr>
              <a:t>SentinelUEBA · Honeywell Campus Connect 2026 · Problem 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eaLnBrk="1" hangingPunct="1"/>
            <a:r>
              <a:rPr sz="2200" b="1">
                <a:solidFill>
                  <a:srgbClr val="0B2447"/>
                </a:solidFill>
                <a:latin typeface="Calibri"/>
              </a:rPr>
              <a:t>ARTIFACTS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" y="1280160"/>
            <a:ext cx="11430000" cy="4892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sz="1500" b="1">
                <a:solidFill>
                  <a:srgbClr val="0B2447"/>
                </a:solidFill>
                <a:latin typeface="Calibri"/>
              </a:rPr>
              <a:t>Reproducible, auditable pipeline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250" b="0">
                <a:solidFill>
                  <a:srgbClr val="1F2A37"/>
                </a:solidFill>
                <a:latin typeface="Calibri"/>
              </a:rPr>
              <a:t>•  One command: python run_all.py --fresh (seeded, deterministic).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250" b="0">
                <a:solidFill>
                  <a:srgbClr val="1F2A37"/>
                </a:solidFill>
                <a:latin typeface="Calibri"/>
              </a:rPr>
              <a:t>•  Persisted model bundle + inference replay · SHA-256 run manifest · 25 passing tests.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0B2447"/>
                </a:solidFill>
                <a:latin typeface="Calibri"/>
              </a:rPr>
              <a:t>Deliverables (all included)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250" b="0">
                <a:solidFill>
                  <a:srgbClr val="1F2A37"/>
                </a:solidFill>
                <a:latin typeface="Calibri"/>
              </a:rPr>
              <a:t>•  Synthetic generator · autoencoder baseline · causal GRU · LightGBM classifier · SHAP explainability · Streamlit analyst console · technical report (PDF).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250" b="0">
                <a:solidFill>
                  <a:srgbClr val="1F2A37"/>
                </a:solidFill>
                <a:latin typeface="Calibri"/>
              </a:rPr>
              <a:t>•  Code + report + scored data packaged in the CRC-verified submission ZIP.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250" b="0">
                <a:solidFill>
                  <a:srgbClr val="1F2A37"/>
                </a:solidFill>
                <a:latin typeface="Calibri"/>
              </a:rPr>
              <a:t>•  Detection curves (ROC / Precision-Recall) and per-channel ROC-AUC are in the technical report and the analyst console.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 wrap="squar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900" b="0">
                <a:solidFill>
                  <a:srgbClr val="555F6B"/>
                </a:solidFill>
                <a:latin typeface="Calibri"/>
              </a:rPr>
              <a:t>SentinelUEBA · Honeywell Campus Connect 2026 · Problem 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eaLnBrk="1" hangingPunct="1"/>
            <a:r>
              <a:rPr sz="2200" b="1">
                <a:solidFill>
                  <a:srgbClr val="0B2447"/>
                </a:solidFill>
                <a:latin typeface="Calibri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65760" y="1280160"/>
            <a:ext cx="11430000" cy="4892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sz="1300" b="0">
                <a:solidFill>
                  <a:srgbClr val="1F2A37"/>
                </a:solidFill>
                <a:latin typeface="Calibri"/>
              </a:rPr>
              <a:t>•  MITRE ATT&amp;CK — technique mapping (T1110 Brute Force, T1078 Valid Accounts, T1021 Remote Services, T1036 Masquerading, T1030 Exfiltration).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1F2A37"/>
                </a:solidFill>
                <a:latin typeface="Calibri"/>
              </a:rPr>
              <a:t>•  Antwarg et al., “Explaining Anomalies Detected by Autoencoders Using SHAP,” Expert Systems with Applications (2021).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1F2A37"/>
                </a:solidFill>
                <a:latin typeface="Calibri"/>
              </a:rPr>
              <a:t>•  Peer-group analysis for UEBA false-positive reduction (Bolton &amp; Hand; Gartner-standard practice).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1F2A37"/>
                </a:solidFill>
                <a:latin typeface="Calibri"/>
              </a:rPr>
              <a:t>•  Real-data evidence — executed chronological SPEDIA probe (Zenodo 15495572); implemented, not executed: LANL red-team auth harness (csr.lanl.gov/data/cyber1).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1F2A37"/>
                </a:solidFill>
                <a:latin typeface="Calibri"/>
              </a:rPr>
              <a:t>•  Page-Hinkley change detection for concept-drift handling.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1F2A37"/>
                </a:solidFill>
                <a:latin typeface="Calibri"/>
              </a:rPr>
              <a:t>•  Domain alignment — Honeywell Forge Cyber Insights (OT behavioural anomaly detection).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 wrap="squar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900" b="0">
                <a:solidFill>
                  <a:srgbClr val="555F6B"/>
                </a:solidFill>
                <a:latin typeface="Calibri"/>
              </a:rPr>
              <a:t>SentinelUEBA · Honeywell Campus Connect 2026 · Problem 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7668</TotalTime>
  <Words>320</Words>
  <Application>Microsoft Office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PowerPoint Presentation</vt:lpstr>
      <vt:lpstr> IDEA TITLE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Ramesh MV (HirePro)</cp:lastModifiedBy>
  <cp:revision>153</cp:revision>
  <dcterms:created xsi:type="dcterms:W3CDTF">2013-12-12T18:46:50Z</dcterms:created>
  <dcterms:modified xsi:type="dcterms:W3CDTF">2026-07-24T16:33:04Z</dcterms:modified>
  <cp:category/>
</cp:coreProperties>
</file>